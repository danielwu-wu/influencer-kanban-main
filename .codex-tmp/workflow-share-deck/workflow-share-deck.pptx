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cef083cb4f646b3" /><Relationship Type="http://schemas.openxmlformats.org/officeDocument/2006/relationships/extended-properties" Target="/docProps/app.xml" Id="Rdb0747fe87cf4896" /><Relationship Type="http://schemas.openxmlformats.org/officeDocument/2006/relationships/officeDocument" Target="/ppt/presentation.xml" Id="R4ae8dc5fa3c54d8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c9c68bd1c3b4bc1"/>
  </p:sldMasterIdLst>
  <p:notesMasterIdLst>
    <p:notesMasterId xmlns:r="http://schemas.openxmlformats.org/officeDocument/2006/relationships" r:id="R98b1df28bb9e4fef"/>
  </p:notesMasterIdLst>
  <p:sldIdLst>
    <p:sldId xmlns:r="http://schemas.openxmlformats.org/officeDocument/2006/relationships" id="256" r:id="R77feefe064ac4fad"/>
    <p:sldId xmlns:r="http://schemas.openxmlformats.org/officeDocument/2006/relationships" id="257" r:id="R26fbb2de1605441e"/>
    <p:sldId xmlns:r="http://schemas.openxmlformats.org/officeDocument/2006/relationships" id="258" r:id="R6af6dce70d5f42f2"/>
    <p:sldId xmlns:r="http://schemas.openxmlformats.org/officeDocument/2006/relationships" id="259" r:id="R531eccb137444690"/>
    <p:sldId xmlns:r="http://schemas.openxmlformats.org/officeDocument/2006/relationships" id="260" r:id="Rf3f82444e2c14cfb"/>
    <p:sldId xmlns:r="http://schemas.openxmlformats.org/officeDocument/2006/relationships" id="261" r:id="R7e1afdbb44b34e89"/>
    <p:sldId xmlns:r="http://schemas.openxmlformats.org/officeDocument/2006/relationships" id="262" r:id="R7a9e63091bbc434d"/>
    <p:sldId xmlns:r="http://schemas.openxmlformats.org/officeDocument/2006/relationships" id="263" r:id="Rdd028c24b14749a3"/>
    <p:sldId xmlns:r="http://schemas.openxmlformats.org/officeDocument/2006/relationships" id="264" r:id="Rd6f88951f22b4d12"/>
    <p:sldId xmlns:r="http://schemas.openxmlformats.org/officeDocument/2006/relationships" id="265" r:id="Ra444230e57c14054"/>
    <p:sldId xmlns:r="http://schemas.openxmlformats.org/officeDocument/2006/relationships" id="266" r:id="R2559646078ef48f1"/>
    <p:sldId xmlns:r="http://schemas.openxmlformats.org/officeDocument/2006/relationships" id="267" r:id="Rbab55ea399ee43e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352024aca744a58" /><Relationship Type="http://schemas.openxmlformats.org/officeDocument/2006/relationships/slideMaster" Target="/ppt/slideMasters/slideMaster1.xml" Id="R5c9c68bd1c3b4bc1" /><Relationship Type="http://schemas.openxmlformats.org/officeDocument/2006/relationships/notesMaster" Target="/ppt/notesMasters/notesMaster1.xml" Id="R98b1df28bb9e4fef" /><Relationship Type="http://schemas.openxmlformats.org/officeDocument/2006/relationships/presProps" Target="/ppt/presProps.xml" Id="R02e8566c13f440c6" /><Relationship Type="http://schemas.openxmlformats.org/officeDocument/2006/relationships/tableStyles" Target="/ppt/tableStyles.xml" Id="R1e84d0aad6534183" /><Relationship Type="http://schemas.openxmlformats.org/officeDocument/2006/relationships/slide" Target="/ppt/slides/slide1.xml" Id="R77feefe064ac4fad" /><Relationship Type="http://schemas.openxmlformats.org/officeDocument/2006/relationships/slide" Target="/ppt/slides/slide2.xml" Id="R26fbb2de1605441e" /><Relationship Type="http://schemas.openxmlformats.org/officeDocument/2006/relationships/slide" Target="/ppt/slides/slide3.xml" Id="R6af6dce70d5f42f2" /><Relationship Type="http://schemas.openxmlformats.org/officeDocument/2006/relationships/slide" Target="/ppt/slides/slide4.xml" Id="R531eccb137444690" /><Relationship Type="http://schemas.openxmlformats.org/officeDocument/2006/relationships/slide" Target="/ppt/slides/slide5.xml" Id="Rf3f82444e2c14cfb" /><Relationship Type="http://schemas.openxmlformats.org/officeDocument/2006/relationships/slide" Target="/ppt/slides/slide6.xml" Id="R7e1afdbb44b34e89" /><Relationship Type="http://schemas.openxmlformats.org/officeDocument/2006/relationships/slide" Target="/ppt/slides/slide7.xml" Id="R7a9e63091bbc434d" /><Relationship Type="http://schemas.openxmlformats.org/officeDocument/2006/relationships/slide" Target="/ppt/slides/slide8.xml" Id="Rdd028c24b14749a3" /><Relationship Type="http://schemas.openxmlformats.org/officeDocument/2006/relationships/slide" Target="/ppt/slides/slide9.xml" Id="Rd6f88951f22b4d12" /><Relationship Type="http://schemas.openxmlformats.org/officeDocument/2006/relationships/slide" Target="/ppt/slides/slide10.xml" Id="Ra444230e57c14054" /><Relationship Type="http://schemas.openxmlformats.org/officeDocument/2006/relationships/slide" Target="/ppt/slides/slide11.xml" Id="R2559646078ef48f1" /><Relationship Type="http://schemas.openxmlformats.org/officeDocument/2006/relationships/slide" Target="/ppt/slides/slide12.xml" Id="Rbab55ea399ee43e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6d233400d9f4c0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704155a165c41c8" /><Relationship Type="http://schemas.openxmlformats.org/officeDocument/2006/relationships/notesMaster" Target="/ppt/notesMasters/notesMaster1.xml" Id="R21e7b52831934ca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9bf9edc198740af" /><Relationship Type="http://schemas.openxmlformats.org/officeDocument/2006/relationships/notesMaster" Target="/ppt/notesMasters/notesMaster1.xml" Id="R78d172cdbfaa47e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72d52f8f2a94f13" /><Relationship Type="http://schemas.openxmlformats.org/officeDocument/2006/relationships/notesMaster" Target="/ppt/notesMasters/notesMaster1.xml" Id="R2b99faf4fb974e4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b3ca3e8d16e42ca" /><Relationship Type="http://schemas.openxmlformats.org/officeDocument/2006/relationships/notesMaster" Target="/ppt/notesMasters/notesMaster1.xml" Id="R233dd5fbe595415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795e05fdf574518" /><Relationship Type="http://schemas.openxmlformats.org/officeDocument/2006/relationships/notesMaster" Target="/ppt/notesMasters/notesMaster1.xml" Id="Rea0c08ecd312472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572f1134aac4418" /><Relationship Type="http://schemas.openxmlformats.org/officeDocument/2006/relationships/notesMaster" Target="/ppt/notesMasters/notesMaster1.xml" Id="R6ec2bacccf3f441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ea9a0ec75e244ea" /><Relationship Type="http://schemas.openxmlformats.org/officeDocument/2006/relationships/notesMaster" Target="/ppt/notesMasters/notesMaster1.xml" Id="R4688eb172d41472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09157673f924c81" /><Relationship Type="http://schemas.openxmlformats.org/officeDocument/2006/relationships/notesMaster" Target="/ppt/notesMasters/notesMaster1.xml" Id="Rb423bb2bea054ae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b90fc33cc134e2e" /><Relationship Type="http://schemas.openxmlformats.org/officeDocument/2006/relationships/notesMaster" Target="/ppt/notesMasters/notesMaster1.xml" Id="R14dadaa99bb04b6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5f791d7e98f41cf" /><Relationship Type="http://schemas.openxmlformats.org/officeDocument/2006/relationships/notesMaster" Target="/ppt/notesMasters/notesMaster1.xml" Id="R5b4ca0b20cd6432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a7c7f231ff14e14" /><Relationship Type="http://schemas.openxmlformats.org/officeDocument/2006/relationships/notesMaster" Target="/ppt/notesMasters/notesMaster1.xml" Id="R8a5dea23e25147a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e5a09173de14d86" /><Relationship Type="http://schemas.openxmlformats.org/officeDocument/2006/relationships/notesMaster" Target="/ppt/notesMasters/notesMaster1.xml" Id="R3a5d7627d0754b2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：今天不从功能清单开始，而从我们每天真实经历的红人合作链路开始。核心问题不是缺少某一个工具，而是红人信息、邮件、履约日期和下一步动作经常散落在不同地方。今天想分享的是：怎样让每一步自然接到下一步，同时保留运营人员的判断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转场：先看我对这条工作流最核心的判断。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source: docs/HANDOFF.md, 2026-08-13.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重点：红人推广不是建一个名单就结束。每一位红人都在不断改变状态：从未知到可联系，从有回复到谈条件，从确认合作到寄样、拍摄和发布。如果系统只保存资料，却不能告诉我们现在发生了什么、下一步做什么，那么它仍然只是一个更漂亮的表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强调三个对象：状态、下一步动作、证据。证据包括邮件、日期、物流单号、视频链接等。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转场：那为什么我们以前容易断？因为信息被不同工具切开了。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source: docs/HANDOFF.md, 2026-08-13.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讲解重点：我没有想把所有能力都重新造一遍。YouTube 最适合发现内容，Gmail 最适合正式沟通，飞书适合结构化沉淀。工作台承担的是把这些事实组织成下一步行动。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这是第二条判断：系统整合的不是页面，而是业务事实。一个邮件回复应该能改变待办，一个合作日期应该能出现在日历，一个草稿保存成功以后才允许写回对应状态。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转场：我设计这个产品的过程其实很短，重点不是画页面，而是找断点和边界。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source: docs/HANDOFF.md, 2026-08-13.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快速讲完，大约两分钟。我的设计过程不是从页面风格开始，而是先把一天的工作写成步骤，标出三类断点：重复录入、信息找不到、下一步不清楚。然后定义安全边界：读取和建议可以积极，真实写入必须确认。最后才优化路径，让高频操作少跳页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不要在这一页展开技术细节。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转场：接下来用一名红人的完整生命周期，看看这些判断如何落地。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source: docs/HANDOFF.md, 2026-08-13.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讲解重点：现场演示不要从左侧菜单一个个点，而是选一名红人作为主角。先从频道发现和建档开始，再进入 Gmail 看上下文和起草回复，最后回到每日待办、日历和合作项目。这样大家看到的是业务如何连续，而不是功能有多少。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建议提前准备：一名已有公开资料的测试红人、一条可安全展示的邮件线程、一条已脱敏的合作项目。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转场：第一段演示，从公开频道变成可跟进的红人档案。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source: docs/HANDOFF.md, 2026-08-13.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现场演示步骤：</a:t>
            </a:r>
          </a:p>
          <a:p xmlns:a="http://schemas.openxmlformats.org/drawingml/2006/main">
            <a:r>
              <a:t>1. 打开“红人开发台”，输入提前准备的 YouTube 频道链接。</a:t>
            </a:r>
          </a:p>
          <a:p xmlns:a="http://schemas.openxmlformats.org/drawingml/2006/main">
            <a:r>
              <a:t>2. 展示系统识别的头像、近期视频、国家和公开邮箱来源。</a:t>
            </a:r>
          </a:p>
          <a:p xmlns:a="http://schemas.openxmlformats.org/drawingml/2006/main">
            <a:r>
              <a:t>3. 强调隐藏邮箱拿不到；公开信息不完整时必须人工补充。</a:t>
            </a:r>
          </a:p>
          <a:p xmlns:a="http://schemas.openxmlformats.org/drawingml/2006/main">
            <a:r>
              <a:t>4. 展示飞书资源库/开发记录查重。</a:t>
            </a:r>
          </a:p>
          <a:p xmlns:a="http://schemas.openxmlformats.org/drawingml/2006/main">
            <a:r>
              <a:t>5. 打开写入预览即可，不必在分享会上真实写入；如果要写入，必须使用测试记录并人工确认。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讲解观点：采集只是第一步，真正重要的是把线索变成有状态、有下一步的行动对象。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转场：红人一旦进入沟通阶段，最贵的不是打字时间，而是重新理解上下文的时间。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source: docs/HANDOFF.md, 2026-08-13.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现场演示步骤：</a:t>
            </a:r>
          </a:p>
          <a:p xmlns:a="http://schemas.openxmlformats.org/drawingml/2006/main">
            <a:r>
              <a:t>1. 打开 Gmail 邮件，选择一条适合展示的真实线程。</a:t>
            </a:r>
          </a:p>
          <a:p xmlns:a="http://schemas.openxmlformats.org/drawingml/2006/main">
            <a:r>
              <a:t>2. 展示线程参与人以及选择哪封邮件作为回复依据。</a:t>
            </a:r>
          </a:p>
          <a:p xmlns:a="http://schemas.openxmlformats.org/drawingml/2006/main">
            <a:r>
              <a:t>3. 指出系统会读取同一联系人的相关历史，用于恢复上下文。</a:t>
            </a:r>
          </a:p>
          <a:p xmlns:a="http://schemas.openxmlformats.org/drawingml/2006/main">
            <a:r>
              <a:t>4. 演示未确认收件人时仍可生成，但不能保存草稿。</a:t>
            </a:r>
          </a:p>
          <a:p xmlns:a="http://schemas.openxmlformats.org/drawingml/2006/main">
            <a:r>
              <a:t>5. 打开 AI 模板起草入口，进入下一页的提示词逻辑。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讲解观点：AI 的第一价值不是“写得像人”，而是帮运营人员快速恢复合作上下文。但模型理解不能替代收件人确认。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project screenshot: codex-clipboard-6dac3469-ce06-42fb-94fe-74820bb77918.png, 2026-08-13.</a:t>
            </a:r>
          </a:p>
          <a:p xmlns:a="http://schemas.openxmlformats.org/drawingml/2006/main">
            <a:r>
              <a:t>- Project source: docs/HANDOFF.md, 2026-08-13.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讲解重点：</a:t>
            </a:r>
          </a:p>
          <a:p xmlns:a="http://schemas.openxmlformats.org/drawingml/2006/main">
            <a:r>
              <a:t>- “AI 系统功能提示词”负责通用能力的工作方式，例如邮件翻译、合作分析和建议。它决定 AI 怎样理解和判断。</a:t>
            </a:r>
          </a:p>
          <a:p xmlns:a="http://schemas.openxmlformats.org/drawingml/2006/main">
            <a:r>
              <a:t>- “AI 起草邮件提示词”只在起草正式邮件时使用，结合邮件历史、模板规则、用户事实、目标语言和语气，决定最终怎么表达。</a:t>
            </a:r>
          </a:p>
          <a:p xmlns:a="http://schemas.openxmlformats.org/drawingml/2006/main">
            <a:r>
              <a:t>- 把两者分开，是为了避免改一封邮件的表达习惯时，影响其他分析功能。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现场可快速进入两个设置页对照，不必逐段朗读提示词。重点讲职责，而不是提示词文字本身。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转场：即使 AI 能写外文，真正适合我们控制内容的界面仍然应该是中文。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project screenshot: codex-clipboard-400802f6-334d-4834-8bb6-977e3a8362f7.png, 2026-08-13.</a:t>
            </a:r>
          </a:p>
          <a:p xmlns:a="http://schemas.openxmlformats.org/drawingml/2006/main">
            <a:r>
              <a:t>- User-provided project screenshot: codex-clipboard-5f01dc9a-1a7e-4e8f-a5fb-478034175d57.png, 2026-08-13.</a:t>
            </a:r>
          </a:p>
          <a:p xmlns:a="http://schemas.openxmlformats.org/drawingml/2006/main">
            <a:r>
              <a:t>- Project source: docs/HANDOFF.md, 2026-08-13.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现场演示步骤：</a:t>
            </a:r>
          </a:p>
          <a:p xmlns:a="http://schemas.openxmlformats.org/drawingml/2006/main">
            <a:r>
              <a:t>1. 选择模板、目标语言和语气，补充一段中文事实。</a:t>
            </a:r>
          </a:p>
          <a:p xmlns:a="http://schemas.openxmlformats.org/drawingml/2006/main">
            <a:r>
              <a:t>2. 生成外文和完整中文对照。</a:t>
            </a:r>
          </a:p>
          <a:p xmlns:a="http://schemas.openxmlformats.org/drawingml/2006/main">
            <a:r>
              <a:t>3. 不修改中文时，展示“保存 Gmail 草稿”可以直接使用。</a:t>
            </a:r>
          </a:p>
          <a:p xmlns:a="http://schemas.openxmlformats.org/drawingml/2006/main">
            <a:r>
              <a:t>4. 修改中文一个条件，展示保存按钮立即禁用。</a:t>
            </a:r>
          </a:p>
          <a:p xmlns:a="http://schemas.openxmlformats.org/drawingml/2006/main">
            <a:r>
              <a:t>5. 点击“根据中文更新外文”，说明此时只忠实翻译，不重新决定商务内容。</a:t>
            </a:r>
          </a:p>
          <a:p xmlns:a="http://schemas.openxmlformats.org/drawingml/2006/main">
            <a:r>
              <a:t>6. 手动编辑外文，展示不同步提示但仍可保存。</a:t>
            </a:r>
          </a:p>
          <a:p xmlns:a="http://schemas.openxmlformats.org/drawingml/2006/main">
            <a:r>
              <a:t>7. 再次从中文更新外文时，展示覆盖确认。</a:t>
            </a:r>
          </a:p>
          <a:p xmlns:a="http://schemas.openxmlformats.org/drawingml/2006/main">
            <a:r>
              <a:t>8. 最后停在保存草稿按钮；如需要真实点击，使用测试线程。强调不会自动发送。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这是第三条判断：中文对照不是附属翻译，而是运营人员的控制面。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转场：单封邮件处理好以后，还要让每天的优先级和合作履约持续可见。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source: docs/HANDOFF.md, 2026-08-13.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讲解重点：这三个页面不是三个独立模块，而是同一业务的三个视角。每日待办回答行动优先级，工作日历回答时间承诺，合作项目回答状态和风险。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现场演示建议：</a:t>
            </a:r>
          </a:p>
          <a:p xmlns:a="http://schemas.openxmlformats.org/drawingml/2006/main">
            <a:r>
              <a:t>1. 打开每日待办，展示 Gmail 来信如何成为待办以及回复后如何完成。</a:t>
            </a:r>
          </a:p>
          <a:p xmlns:a="http://schemas.openxmlformats.org/drawingml/2006/main">
            <a:r>
              <a:t>2. 打开工作日历，点一个合作节点进入当天详情。</a:t>
            </a:r>
          </a:p>
          <a:p xmlns:a="http://schemas.openxmlformats.org/drawingml/2006/main">
            <a:r>
              <a:t>3. 从日历节点跳转到对应合作项目。</a:t>
            </a:r>
          </a:p>
          <a:p xmlns:a="http://schemas.openxmlformats.org/drawingml/2006/main">
            <a:r>
              <a:t>4. 展示列表、看板或日历视图中的同一项目。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这是第四条判断：系统不应该要求人记住所有事情，而应该在正确的时间把下一步呈现出来。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转场：合作确认以后，真正的管理重点从“说了什么”变成“事情有没有按时发生”。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source: docs/HANDOFF.md, 2026-08-13.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重点：合作项目的价值，是把承诺转换成可以检查的日期和证据。确认、发货、到货、拍摄和上线都应该有明确记录。系统可以根据日期产生风险提示，也可以帮助起草物流或折扣告知邮件，但真实草稿保存和飞书写回仍由用户点击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现场演示建议：打开一条脱敏合作项目，展示阶段、日期、告知复选框；再打开物流或折扣邮件起草入口，说明 Gmail 成功而飞书失败时只重试写回，不重复建草稿。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转场：最后，团队使用这套工作流时需要形成共同规则，否则再好的系统也会重新变成信息孤岛。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source: docs/HANDOFF.md, 2026-08-13.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收尾：不要把分享会结束在“大家觉得怎么样”。直接邀请组员围绕四个问题讨论，并记录一个最优先的断点。建议会后选 1—2 名成员用同一套规则跑一周，再根据真实使用调整字段、提醒和操作路径。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最后总结：这个产品不是为了让 AI 代替红人运营，而是为了让运营人员减少重复查找、减少遗漏，把时间留给判断合作价值、维护关系和统筹履约。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可用结束语：系统越自动，人的责任边界越要清楚。我们追求的不是无人操作，而是每一次人工判断都发生在真正需要判断的地方。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source: docs/HANDOFF.md, 2026-08-13.</a:t>
            </a:r>
          </a:p>
          <a:p xmlns:a="http://schemas.openxmlformats.org/drawingml/2006/main">
            <a:r>
              <a:t>- Project guidance: AGENTS.md, 2026-08-13.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1851bba4c642b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3c9962db7454717" /><Relationship Type="http://schemas.openxmlformats.org/officeDocument/2006/relationships/slideLayout" Target="/ppt/slideLayouts/slideLayout1.xml" Id="Rded0d46412a34d8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ed0d46412a34d8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f8a425e7794b58" /><Relationship Type="http://schemas.openxmlformats.org/officeDocument/2006/relationships/notesSlide" Target="/ppt/notesSlides/notesSlide1.xml" Id="Rbc32d862023f4b9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fcbd09e8fe4d4a" /><Relationship Type="http://schemas.openxmlformats.org/officeDocument/2006/relationships/notesSlide" Target="/ppt/notesSlides/notesSlide2.xml" Id="Rf67a87b162024f5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a536bba45046c3" /><Relationship Type="http://schemas.openxmlformats.org/officeDocument/2006/relationships/notesSlide" Target="/ppt/notesSlides/notesSlide3.xml" Id="Rfc63170bb343464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0dc7670add4223" /><Relationship Type="http://schemas.openxmlformats.org/officeDocument/2006/relationships/notesSlide" Target="/ppt/notesSlides/notesSlide4.xml" Id="Rddfa0676932a4d0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636205505d4134" /><Relationship Type="http://schemas.openxmlformats.org/officeDocument/2006/relationships/notesSlide" Target="/ppt/notesSlides/notesSlide5.xml" Id="R77c7b5a11357439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6a22d35248464d" /><Relationship Type="http://schemas.openxmlformats.org/officeDocument/2006/relationships/notesSlide" Target="/ppt/notesSlides/notesSlide6.xml" Id="Re59ff06c4ca24fa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a4c602f8e14360" /><Relationship Type="http://schemas.openxmlformats.org/officeDocument/2006/relationships/image" Target="/ppt/media/image.png" Id="Rd33bb3e633d34f1e" /><Relationship Type="http://schemas.openxmlformats.org/officeDocument/2006/relationships/notesSlide" Target="/ppt/notesSlides/notesSlide7.xml" Id="Rc6ad3315900448f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12fcbafe0d40e2" /><Relationship Type="http://schemas.openxmlformats.org/officeDocument/2006/relationships/image" Target="/ppt/media/image2.png" Id="Rbdd79604037f40e2" /><Relationship Type="http://schemas.openxmlformats.org/officeDocument/2006/relationships/image" Target="/ppt/media/image3.png" Id="Ra70489fc3472402d" /><Relationship Type="http://schemas.openxmlformats.org/officeDocument/2006/relationships/notesSlide" Target="/ppt/notesSlides/notesSlide8.xml" Id="R0b7c929ce1ba4c2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c9984ccb0e4596" /><Relationship Type="http://schemas.openxmlformats.org/officeDocument/2006/relationships/notesSlide" Target="/ppt/notesSlides/notesSlide9.xml" Id="Rbba0180fe50243c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a5496f64fc4b89" /><Relationship Type="http://schemas.openxmlformats.org/officeDocument/2006/relationships/notesSlide" Target="/ppt/notesSlides/notesSlide10.xml" Id="Rce2968d48c2d4ec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361bd2f2fb4115" /><Relationship Type="http://schemas.openxmlformats.org/officeDocument/2006/relationships/notesSlide" Target="/ppt/notesSlides/notesSlide11.xml" Id="Rb57f6088f7264d5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5d65acbf6346b7" /><Relationship Type="http://schemas.openxmlformats.org/officeDocument/2006/relationships/notesSlide" Target="/ppt/notesSlides/notesSlide12.xml" Id="R6a17629d71ac436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6CE4B90-F48A-4950-8FFC-1695EC037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团队分享会 ·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32BF1F-FB7D-40DD-96A5-3C2B57151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09700"/>
            <a:ext cx="571500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让红人合作</a:t>
            </a:r>
          </a:p>
          <a:p xmlns:a="http://schemas.openxmlformats.org/drawingml/2006/main">
            <a:pPr algn="l">
              <a:defRPr sz="37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从发现走到发布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CDEA89-C69F-4850-8E76-DB4E03AFC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238500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海外红人推广工作流看板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199025-F893-4478-B59A-6BBEB1056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771900"/>
            <a:ext cx="5048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一次关于业务连续性、人工判断与 AI 边界的实践分享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1F36D3-0728-4D10-9F76-AABDD997D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953000"/>
            <a:ext cx="11811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85ED56-6179-4962-A996-18ED38D89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972050"/>
            <a:ext cx="1181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64E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64E8A"/>
                </a:solidFill>
                <a:latin typeface="Microsoft YaHei"/>
                <a:ea typeface="Microsoft YaHei"/>
                <a:cs typeface="Microsoft YaHei"/>
              </a:rPr>
              <a:t>看完整链路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9E850C-B4C0-4C25-96D7-955EB3894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953000"/>
            <a:ext cx="11811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BCB716-2D9F-420C-BBDF-C6D569796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972050"/>
            <a:ext cx="1181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64E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64E8A"/>
                </a:solidFill>
                <a:latin typeface="Microsoft YaHei"/>
                <a:ea typeface="Microsoft YaHei"/>
                <a:cs typeface="Microsoft YaHei"/>
              </a:rPr>
              <a:t>做现场演示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D5484E-78BA-433C-A813-8B29460F2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953000"/>
            <a:ext cx="1333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B4864B-8F56-4799-8F0F-1D14FEAAA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972050"/>
            <a:ext cx="1333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64E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64E8A"/>
                </a:solidFill>
                <a:latin typeface="Microsoft YaHei"/>
                <a:ea typeface="Microsoft YaHei"/>
                <a:cs typeface="Microsoft YaHei"/>
              </a:rPr>
              <a:t>形成团队共识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260A2A-B92F-4F4F-AFD6-D6CF6A242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61950"/>
            <a:ext cx="5238750" cy="5753100"/>
          </a:xfrm>
          <a:prstGeom xmlns:a="http://schemas.openxmlformats.org/drawingml/2006/main" prst="roundRect">
            <a:avLst>
              <a:gd name="adj" fmla="val 3273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DCE3EA"/>
            </a:solidFill>
            <a:prstDash val="solid"/>
          </a:ln>
        </p:spPr>
      </p:sp>
      <p:cxnSp>
        <p:nvCxnSpPr>
          <p:cNvPr id="39" name=""/>
          <p:cNvCxnSpPr/>
          <p:nvPr/>
        </p:nvCxnSpPr>
        <p:spPr>
          <a:xfrm xmlns:a="http://schemas.openxmlformats.org/drawingml/2006/main">
            <a:off x="7334250" y="1857375"/>
            <a:ext cx="333375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6DCBF4"/>
            </a:solidFill>
            <a:prstDash val="solid"/>
          </a:ln>
        </p:spPr>
      </p:cxnSp>
      <p:cxnSp>
        <p:nvCxnSpPr>
          <p:cNvPr id="40" name=""/>
          <p:cNvCxnSpPr/>
          <p:nvPr/>
        </p:nvCxnSpPr>
        <p:spPr>
          <a:xfrm xmlns:a="http://schemas.openxmlformats.org/drawingml/2006/main">
            <a:off x="7334250" y="3314700"/>
            <a:ext cx="333375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3D8DFF"/>
            </a:solidFill>
            <a:prstDash val="solid"/>
          </a:ln>
        </p:spPr>
      </p:cxnSp>
      <p:cxnSp>
        <p:nvCxnSpPr>
          <p:cNvPr id="41" name=""/>
          <p:cNvCxnSpPr/>
          <p:nvPr/>
        </p:nvCxnSpPr>
        <p:spPr>
          <a:xfrm xmlns:a="http://schemas.openxmlformats.org/drawingml/2006/main">
            <a:off x="7334250" y="4772025"/>
            <a:ext cx="333375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164E8A"/>
            </a:solidFill>
            <a:prstDash val="soli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438C07-B522-4B84-8BD3-12A7BAA6D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811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9525">
            <a:solidFill>
              <a:srgbClr val="6DCBF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A7EE15-60E8-4799-85C5-9E8C1DEAE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17811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9525">
            <a:solidFill>
              <a:srgbClr val="6DCBF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81643D-26D0-4640-9F67-705D75AE0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571625"/>
            <a:ext cx="114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发现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0F69E1-8FD6-481C-B678-353727B93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933575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公开资料与开发线索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31A74E-9065-4BE0-9FE2-0C971B5E1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385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08FD85-1334-4604-A085-5B4963C38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2385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118F04D-5B84-45E2-B1CB-9C9859F1B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028950"/>
            <a:ext cx="114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沟通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E95B387-5659-4DFD-8368-42728FCE4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39090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Gmail 上下文与双语草稿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FEA403D-3CE6-4BBD-87A6-9B318699B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6958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4E8A"/>
          </a:solidFill>
          <a:ln xmlns:a="http://schemas.openxmlformats.org/drawingml/2006/main" w="9525">
            <a:solidFill>
              <a:srgbClr val="164E8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F530235-2C1D-4E50-A81F-B37A2DC3E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6958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4E8A"/>
          </a:solidFill>
          <a:ln xmlns:a="http://schemas.openxmlformats.org/drawingml/2006/main" w="9525">
            <a:solidFill>
              <a:srgbClr val="164E8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28006D1-3F6A-4431-ADD1-E852131E7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486275"/>
            <a:ext cx="114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履约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89278FC-F7C6-4343-BD4E-223F57674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848225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寄样、拍摄、发布、复盘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33EBE22-0929-4A91-B3E6-1936FE222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467350"/>
            <a:ext cx="447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64E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64E8A"/>
                </a:solidFill>
                <a:latin typeface="Microsoft YaHei"/>
                <a:ea typeface="Microsoft YaHei"/>
                <a:cs typeface="Microsoft YaHei"/>
              </a:rPr>
              <a:t>不是多一个工具，而是让每一步接得上下一步。</a:t>
            </a:r>
          </a:p>
        </p:txBody>
      </p:sp>
    </p:spTree>
    <p:extLst>
      <p:ext uri="{BB962C8B-B14F-4D97-AF65-F5344CB8AC3E}">
        <p14:creationId xmlns:p14="http://schemas.microsoft.com/office/powerpoint/2010/main" val="185092833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0162C08-4E0B-4237-BAC9-13B4B222A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红人推广工作流看板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2D003A-0808-40AB-B4FF-913B8F1A9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红人运营真正管理的，是“状态的连续变化”</a:t>
            </a:r>
          </a:p>
        </p:txBody>
      </p:sp>
      <p:cxnSp>
        <p:nvCxnSpPr>
          <p:cNvPr id="30" name=""/>
          <p:cNvCxnSpPr/>
          <p:nvPr/>
        </p:nvCxnSpPr>
        <p:spPr>
          <a:xfrm xmlns:a="http://schemas.openxmlformats.org/drawingml/2006/main">
            <a:off x="400050" y="13525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CE3EA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C8202D-D5DA-4C03-8F77-003BFF06D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334125"/>
            <a:ext cx="781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36F5BF-B057-45CB-9613-3C8E4590B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38300"/>
            <a:ext cx="1095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红人不是一条静态资料，而是一段持续数周甚至数月的合作关系。</a:t>
            </a:r>
          </a:p>
        </p:txBody>
      </p:sp>
      <p:cxnSp>
        <p:nvCxnSpPr>
          <p:cNvPr id="33" name=""/>
          <p:cNvCxnSpPr/>
          <p:nvPr/>
        </p:nvCxnSpPr>
        <p:spPr>
          <a:xfrm xmlns:a="http://schemas.openxmlformats.org/drawingml/2006/main">
            <a:off x="838200" y="3429000"/>
            <a:ext cx="10382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E3EA"/>
            </a:solidFill>
            <a:prstDash val="soli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F43C5E-344A-4C6A-9BDA-8E948CC2C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766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89B6D4-0650-4694-B1DC-8FEFB1D5B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52850"/>
            <a:ext cx="1028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发现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62C535-BD0B-41BA-BA3D-ECFAED4A9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171950"/>
            <a:ext cx="1409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有没有价值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F9A21A-6F3F-4248-A67A-D022C79CC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2766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429CAC-1A64-48BB-B18F-5F4730535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752850"/>
            <a:ext cx="1028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触达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3A659D-D01F-4DEE-BD8C-8503DA0A6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171950"/>
            <a:ext cx="1409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是否愿意聊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B6A100-E51C-4825-BFCB-D08A3BE34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2766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CC1328-409F-42C8-97A4-F7A730F8E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752850"/>
            <a:ext cx="1028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谈判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09ED3B-3D04-4A8F-A438-A7BB31974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171950"/>
            <a:ext cx="1409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条件是否可行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054154-CBE5-4C1D-B60A-89E25C32A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2766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FEE009-5965-44A8-9FD4-DED5AC3C0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752850"/>
            <a:ext cx="1028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履约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8912F8-6697-4323-9270-70F7CE617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171950"/>
            <a:ext cx="1409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事情是否发生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0A8208-B381-4637-B5C6-9B06DFB17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2766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4E8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9B83D9-A202-42EC-8300-2CFCC67D3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752850"/>
            <a:ext cx="1028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发布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43EA7B-6BDA-4F8C-B8C1-8F0BD0473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171950"/>
            <a:ext cx="1409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结果是否兑现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DBF6B7-A716-49C3-B9CD-A001B940B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2766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4E8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ADCE5A7-67CA-4E99-BBB7-7B4A162ED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752850"/>
            <a:ext cx="1028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复盘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4A9F990-7E6A-40E5-A061-C6CA2CF67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171950"/>
            <a:ext cx="1409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经验能否复用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808F3D4-09A0-492E-92D3-4C26F8BF1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0"/>
            <a:ext cx="113919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3F6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9B71D16-0A3E-4F02-8FA8-2814C53C2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3340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我的第一条判断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77D3CE8-7C8E-4C09-B8DD-B7E835B6C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276850"/>
            <a:ext cx="885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系统的价值，不是保存更多字段，而是让“当前状态、下一步动作、关键证据”始终连在一起。</a:t>
            </a:r>
          </a:p>
        </p:txBody>
      </p:sp>
    </p:spTree>
    <p:extLst>
      <p:ext uri="{BB962C8B-B14F-4D97-AF65-F5344CB8AC3E}">
        <p14:creationId xmlns:p14="http://schemas.microsoft.com/office/powerpoint/2010/main" val="1428514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BF48129-35A1-4A38-BE6E-61B3D7FAD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红人推广工作流看板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AD0BB5-549C-4A4F-9AA0-32789BD4A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工具可以分散，但业务事实必须汇合</a:t>
            </a:r>
          </a:p>
        </p:txBody>
      </p:sp>
      <p:cxnSp>
        <p:nvCxnSpPr>
          <p:cNvPr id="33" name=""/>
          <p:cNvCxnSpPr/>
          <p:nvPr/>
        </p:nvCxnSpPr>
        <p:spPr>
          <a:xfrm xmlns:a="http://schemas.openxmlformats.org/drawingml/2006/main">
            <a:off x="400050" y="13525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CE3EA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7A9949-32E6-4DED-A4C5-6EC1E0324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334125"/>
            <a:ext cx="781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64681E-4792-4B28-8A39-76D6C2758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66900"/>
            <a:ext cx="2647950" cy="3105150"/>
          </a:xfrm>
          <a:prstGeom xmlns:a="http://schemas.openxmlformats.org/drawingml/2006/main" prst="roundRect">
            <a:avLst>
              <a:gd name="adj" fmla="val 35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D33A6E-5732-4FE6-96AF-00B192539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66900"/>
            <a:ext cx="26479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E5C5E9-EBD9-4D0A-A2AC-347B8C316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6695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YouTube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3CD838-FE04-488F-B63A-4F1AFAE0D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00350"/>
            <a:ext cx="219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6DCB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6DCBF4"/>
                </a:solidFill>
                <a:latin typeface="Microsoft YaHei"/>
                <a:ea typeface="Microsoft YaHei"/>
                <a:cs typeface="Microsoft YaHei"/>
              </a:rPr>
              <a:t>发现公开线索</a:t>
            </a:r>
          </a:p>
        </p:txBody>
      </p:sp>
      <p:cxnSp>
        <p:nvCxnSpPr>
          <p:cNvPr id="39" name=""/>
          <p:cNvCxnSpPr/>
          <p:nvPr/>
        </p:nvCxnSpPr>
        <p:spPr>
          <a:xfrm xmlns:a="http://schemas.openxmlformats.org/drawingml/2006/main">
            <a:off x="628650" y="3562350"/>
            <a:ext cx="21907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CE3EA"/>
            </a:solidFill>
            <a:prstDash val="soli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929272-8EC6-46C4-ADA8-31ECFC84E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29050"/>
            <a:ext cx="2190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频道、内容、公开邮箱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12E69D-5711-4336-8FD2-FD88ED7E6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66900"/>
            <a:ext cx="2647950" cy="3105150"/>
          </a:xfrm>
          <a:prstGeom xmlns:a="http://schemas.openxmlformats.org/drawingml/2006/main" prst="roundRect">
            <a:avLst>
              <a:gd name="adj" fmla="val 35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A26C6A-FDA4-44C5-8589-E133BB7D6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66900"/>
            <a:ext cx="26479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1601AC-312D-44B5-BA65-792F38C1B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26695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Gmail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447A54-7B13-4BAB-98A6-BBA9A414A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800350"/>
            <a:ext cx="219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留下沟通证据</a:t>
            </a:r>
          </a:p>
        </p:txBody>
      </p:sp>
      <p:cxnSp>
        <p:nvCxnSpPr>
          <p:cNvPr id="45" name=""/>
          <p:cNvCxnSpPr/>
          <p:nvPr/>
        </p:nvCxnSpPr>
        <p:spPr>
          <a:xfrm xmlns:a="http://schemas.openxmlformats.org/drawingml/2006/main">
            <a:off x="3505200" y="3562350"/>
            <a:ext cx="21907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CE3EA"/>
            </a:solidFill>
            <a:prstDash val="soli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0A6835-35D1-4C86-822C-DAF34BAE6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829050"/>
            <a:ext cx="2190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往来、承诺、草稿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51D087-9F5E-4DC6-8423-C3646C390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866900"/>
            <a:ext cx="2647950" cy="3105150"/>
          </a:xfrm>
          <a:prstGeom xmlns:a="http://schemas.openxmlformats.org/drawingml/2006/main" prst="roundRect">
            <a:avLst>
              <a:gd name="adj" fmla="val 35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93D9CB-7EB8-41FE-B696-861A2E76D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866900"/>
            <a:ext cx="26479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4E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8E657D-48AC-4763-ADBE-369D94661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26695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飞书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CA8A41-C9C9-49BF-87FC-A0AD40CAC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800350"/>
            <a:ext cx="219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4E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64E8A"/>
                </a:solidFill>
                <a:latin typeface="Microsoft YaHei"/>
                <a:ea typeface="Microsoft YaHei"/>
                <a:cs typeface="Microsoft YaHei"/>
              </a:rPr>
              <a:t>沉淀业务记录</a:t>
            </a:r>
          </a:p>
        </p:txBody>
      </p:sp>
      <p:cxnSp>
        <p:nvCxnSpPr>
          <p:cNvPr id="51" name=""/>
          <p:cNvCxnSpPr/>
          <p:nvPr/>
        </p:nvCxnSpPr>
        <p:spPr>
          <a:xfrm xmlns:a="http://schemas.openxmlformats.org/drawingml/2006/main">
            <a:off x="6381750" y="3562350"/>
            <a:ext cx="21907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CE3EA"/>
            </a:solidFill>
            <a:prstDash val="solid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CC75D81-D7CD-4CDC-AAC1-C9264F9D8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829050"/>
            <a:ext cx="2190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资料、字段、协作数据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B92D0D1-678F-403A-A332-CB93DCF63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866900"/>
            <a:ext cx="2647950" cy="3105150"/>
          </a:xfrm>
          <a:prstGeom xmlns:a="http://schemas.openxmlformats.org/drawingml/2006/main" prst="roundRect">
            <a:avLst>
              <a:gd name="adj" fmla="val 35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DE674EE-1DAD-44AD-8104-31454D8B7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866900"/>
            <a:ext cx="26479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4DCF946-D132-4385-B3CB-DF3AC3E6C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26695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工作台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3A6F8BF-EA2F-4162-B66C-9D52DE143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800350"/>
            <a:ext cx="219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组织下一步行动</a:t>
            </a:r>
          </a:p>
        </p:txBody>
      </p:sp>
      <p:cxnSp>
        <p:nvCxnSpPr>
          <p:cNvPr id="57" name=""/>
          <p:cNvCxnSpPr/>
          <p:nvPr/>
        </p:nvCxnSpPr>
        <p:spPr>
          <a:xfrm xmlns:a="http://schemas.openxmlformats.org/drawingml/2006/main">
            <a:off x="9258300" y="3562350"/>
            <a:ext cx="21907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CE3EA"/>
            </a:solidFill>
            <a:prstDash val="solid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CC8474E-4995-4846-8759-D543401D9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829050"/>
            <a:ext cx="2190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状态、任务、日历、提醒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156822A-98BA-43FB-AFC2-B4A350D78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353050"/>
            <a:ext cx="73152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35AC131-5EF3-44E7-89C4-0042F88C3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505450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64E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4E8A"/>
                </a:solidFill>
                <a:latin typeface="Microsoft YaHei"/>
                <a:ea typeface="Microsoft YaHei"/>
                <a:cs typeface="Microsoft YaHei"/>
              </a:rPr>
              <a:t>工作台不是替代 Gmail 和飞书，而是让它们共同服务于同一条业务链。</a:t>
            </a:r>
          </a:p>
        </p:txBody>
      </p:sp>
    </p:spTree>
    <p:extLst>
      <p:ext uri="{BB962C8B-B14F-4D97-AF65-F5344CB8AC3E}">
        <p14:creationId xmlns:p14="http://schemas.microsoft.com/office/powerpoint/2010/main" val="175110247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AA0E8D4-1BF0-49B4-A220-D5C0FF6BF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设计过程（简版）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13B3EE-77BF-450C-8F82-2F2B4B1D5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产品设计过程：只做三件事</a:t>
            </a:r>
          </a:p>
        </p:txBody>
      </p:sp>
      <p:cxnSp>
        <p:nvCxnSpPr>
          <p:cNvPr id="23" name=""/>
          <p:cNvCxnSpPr/>
          <p:nvPr/>
        </p:nvCxnSpPr>
        <p:spPr>
          <a:xfrm xmlns:a="http://schemas.openxmlformats.org/drawingml/2006/main">
            <a:off x="400050" y="13525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CE3EA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89B097-F3D8-4CE1-BBDB-5972D9071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334125"/>
            <a:ext cx="781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cxnSp>
        <p:nvCxnSpPr>
          <p:cNvPr id="25" name=""/>
          <p:cNvCxnSpPr/>
          <p:nvPr/>
        </p:nvCxnSpPr>
        <p:spPr>
          <a:xfrm xmlns:a="http://schemas.openxmlformats.org/drawingml/2006/main">
            <a:off x="1428750" y="3476625"/>
            <a:ext cx="9334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E3EA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C5014F-5F88-4B7A-8CAD-9E3ECF241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812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9525">
            <a:solidFill>
              <a:srgbClr val="6DCBF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890C75-FA82-4E6F-9DFD-CB244C988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193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21564E-BC32-47FF-8062-A5937C62A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343150"/>
            <a:ext cx="2362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观察断点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AC231D-AB76-4145-842D-6F3EFAD64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686050"/>
            <a:ext cx="2362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哪里需要复制粘贴？</a:t>
            </a:r>
          </a:p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哪里最容易忘记？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D7E9AE-4587-4C53-B304-72CF57C67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3812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522305-DA18-47F2-A665-20AEA318C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4193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C2DEAA-58CC-4BEC-A588-0BFDD44C2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343150"/>
            <a:ext cx="2362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定义边界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2E245F-0E05-4E91-8403-5A922FF7E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686050"/>
            <a:ext cx="2362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哪些可以自动读取？</a:t>
            </a:r>
          </a:p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哪些必须人工确认？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BA4590-9FC3-4E47-AE92-287DF0418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3812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4E8A"/>
          </a:solidFill>
          <a:ln xmlns:a="http://schemas.openxmlformats.org/drawingml/2006/main" w="9525">
            <a:solidFill>
              <a:srgbClr val="164E8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2C2976-26DB-42BD-ADC8-1F914F16D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4193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8A7ACE-83ED-4BA5-81E9-828B3E644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343150"/>
            <a:ext cx="2362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缩短路径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DD817E-C46B-4571-BFE1-44116072E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686050"/>
            <a:ext cx="2362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让高频动作更短，</a:t>
            </a:r>
          </a:p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让关键判断更清楚。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CB7882-CF1B-4690-9464-A96CCF314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048250"/>
            <a:ext cx="80391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3F6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4F9579-0DB8-4251-BDEF-9E9CE37B4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2387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设计原则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355A74-C4E5-4522-9A64-50DA008F7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181600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先解决“接不上”的问题，再考虑“更智能”的问题。</a:t>
            </a:r>
          </a:p>
        </p:txBody>
      </p:sp>
    </p:spTree>
    <p:extLst>
      <p:ext uri="{BB962C8B-B14F-4D97-AF65-F5344CB8AC3E}">
        <p14:creationId xmlns:p14="http://schemas.microsoft.com/office/powerpoint/2010/main" val="114030165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69EA072-706F-4843-A5BE-C59B6E732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红人推广工作流看板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547CC8-AC3D-48F0-BBBC-2CDE011EC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一名红人的完整生命周期</a:t>
            </a:r>
          </a:p>
        </p:txBody>
      </p:sp>
      <p:cxnSp>
        <p:nvCxnSpPr>
          <p:cNvPr id="34" name=""/>
          <p:cNvCxnSpPr/>
          <p:nvPr/>
        </p:nvCxnSpPr>
        <p:spPr>
          <a:xfrm xmlns:a="http://schemas.openxmlformats.org/drawingml/2006/main">
            <a:off x="400050" y="13525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CE3EA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B889E1-A49E-4D16-936A-344440226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334125"/>
            <a:ext cx="781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cxnSp>
        <p:nvCxnSpPr>
          <p:cNvPr id="36" name=""/>
          <p:cNvCxnSpPr/>
          <p:nvPr/>
        </p:nvCxnSpPr>
        <p:spPr>
          <a:xfrm xmlns:a="http://schemas.openxmlformats.org/drawingml/2006/main">
            <a:off x="685800" y="3333750"/>
            <a:ext cx="10763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E3EA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01B123-AC37-4565-B685-9ED04C673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004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45E999-A249-439C-BA0F-262688133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686050"/>
            <a:ext cx="85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发现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A665C7-580E-435B-BEBA-33E0318D2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32004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F4E039-C269-4E1A-996D-38E94D02C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686050"/>
            <a:ext cx="85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建档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944664-CCDA-4DD8-A4A0-33943D07E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2004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35C0FF-F8CF-4ADF-9E35-C051A534A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686050"/>
            <a:ext cx="85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开发信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8303E9-F266-4520-84DB-09C71D129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2004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CA4E67-1B7C-40A6-BDEC-A5495D172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686050"/>
            <a:ext cx="85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邮件跟进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E53703-0314-43A6-947A-3139D49FD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2004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4E8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EB8493-0B89-4ED8-89E2-D302D9DA3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686050"/>
            <a:ext cx="85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确认合作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B33A98-919D-4660-A3DF-B6D0FD32B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2004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4E8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2C4FA7-8BE6-4BD0-ACE7-857602884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686050"/>
            <a:ext cx="85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寄样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7723BB-FE34-4509-A063-FE8B2AB8B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2004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4E8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654CD0-3E6E-4F57-9D65-D314BB940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686050"/>
            <a:ext cx="85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拍摄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7D6574-A097-488B-B472-64A5D1C65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32004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4E8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E670FB-E9E0-4855-8DCE-EBA3D5644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2686050"/>
            <a:ext cx="85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发布 / 复盘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640D7F-5C90-493A-8AAB-49BB867A7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95750"/>
            <a:ext cx="346710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0B39006-CAEF-4947-B2DB-53A590D74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01 发现与触达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BD30C0B-CD3B-496B-BFB2-B34037022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304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把公开线索变成可行动的对象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15FD4C7-8731-4C37-91E2-1CDFB347F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095750"/>
            <a:ext cx="346710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F3F6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875D3F6-8DD3-42DF-BD0B-EBA4A7549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3053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02 沟通与判断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038E60D-E16E-4F90-8A68-1F56F5EB5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762500"/>
            <a:ext cx="304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让邮件上下文、条件与下一步连续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59F1450-9758-45D9-9778-D0EC47249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095750"/>
            <a:ext cx="346710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EEF5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37649F9-BD51-4A8D-8810-99FED9B78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3053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03 履约与复盘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E03B018-AA48-42CD-9257-A6CAECBCC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762500"/>
            <a:ext cx="304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用日期和证据确认合作真的发生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3A78300-EF40-4655-B2E0-19FDCF1AA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现场演示将沿着这条线走，不按菜单逐页介绍。</a:t>
            </a:r>
          </a:p>
        </p:txBody>
      </p:sp>
    </p:spTree>
    <p:extLst>
      <p:ext uri="{BB962C8B-B14F-4D97-AF65-F5344CB8AC3E}">
        <p14:creationId xmlns:p14="http://schemas.microsoft.com/office/powerpoint/2010/main" val="66401743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CCF2F8E-52AE-415A-9581-1B75D6FED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现场演示 · 发现与建档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CD1314-76C9-4667-9A36-810495A89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现场演示①：从频道线索到红人档案</a:t>
            </a:r>
          </a:p>
        </p:txBody>
      </p:sp>
      <p:cxnSp>
        <p:nvCxnSpPr>
          <p:cNvPr id="38" name=""/>
          <p:cNvCxnSpPr/>
          <p:nvPr/>
        </p:nvCxnSpPr>
        <p:spPr>
          <a:xfrm xmlns:a="http://schemas.openxmlformats.org/drawingml/2006/main">
            <a:off x="400050" y="13525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CE3EA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8D858D-7C70-48BE-8BF4-01EBD6175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334125"/>
            <a:ext cx="781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C01E0D-06A1-4487-9BA8-94CB6051B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57350"/>
            <a:ext cx="952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C31D77-EFC9-40EC-B040-3805B4AEA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7640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演示路径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BED073-432D-4530-9885-B2B915019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241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5A0B50-6F72-46F5-8820-AF73CAA9B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5267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FB7B66-20E1-405C-B57E-CD8D0B8EB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47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输入频道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A92933-0CAD-49BE-88F9-14D482725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266950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用频道链接识别公开资料</a:t>
            </a:r>
          </a:p>
        </p:txBody>
      </p:sp>
      <p:cxnSp>
        <p:nvCxnSpPr>
          <p:cNvPr id="46" name=""/>
          <p:cNvCxnSpPr/>
          <p:nvPr/>
        </p:nvCxnSpPr>
        <p:spPr>
          <a:xfrm xmlns:a="http://schemas.openxmlformats.org/drawingml/2006/main">
            <a:off x="647700" y="2647950"/>
            <a:ext cx="0" cy="4572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E3EA"/>
            </a:solidFill>
            <a:prstDash val="soli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CA5E53-8779-457E-97C6-BB4CD434F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813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1023A0-27B4-4F0A-A249-F8E629377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099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432E60-F235-40D9-AC00-A38A8C898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0515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判断价值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01F87F-BFAF-450D-8176-4F1282CC8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124200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看近期内容、国家与适配度</a:t>
            </a:r>
          </a:p>
        </p:txBody>
      </p:sp>
      <p:cxnSp>
        <p:nvCxnSpPr>
          <p:cNvPr id="51" name=""/>
          <p:cNvCxnSpPr/>
          <p:nvPr/>
        </p:nvCxnSpPr>
        <p:spPr>
          <a:xfrm xmlns:a="http://schemas.openxmlformats.org/drawingml/2006/main">
            <a:off x="647700" y="3505200"/>
            <a:ext cx="0" cy="4572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E3EA"/>
            </a:solidFill>
            <a:prstDash val="soli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AC4C57-4118-4697-9E93-D991C9A6C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386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5AB917-07DB-44C0-8C48-D7744E192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6717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E81DB4-42DF-4068-AF92-31E6FBA3E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9624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检查邮箱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2BB781-6138-4E54-B394-1A01BEE8E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981450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只使用公开邮箱或人工补充</a:t>
            </a:r>
          </a:p>
        </p:txBody>
      </p:sp>
      <p:cxnSp>
        <p:nvCxnSpPr>
          <p:cNvPr id="56" name=""/>
          <p:cNvCxnSpPr/>
          <p:nvPr/>
        </p:nvCxnSpPr>
        <p:spPr>
          <a:xfrm xmlns:a="http://schemas.openxmlformats.org/drawingml/2006/main">
            <a:off x="647700" y="4362450"/>
            <a:ext cx="0" cy="4572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E3EA"/>
            </a:solidFill>
            <a:prstDash val="solid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E5D6007-1D0F-4389-98F9-8F3D596CB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958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4E8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57DF6F4-B770-48F7-9438-E8243B210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244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2D6DAF9-9097-4E58-9DF7-BDB9806FF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81965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查重预览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E97C169-C042-465F-8EF5-7F243A51A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838700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确认后再写入飞书记录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82AA708-7828-4E21-9D90-1BB94E0E5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847850"/>
            <a:ext cx="47625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D0C2D59-AE69-41FF-BCFD-89B0D7621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152650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64E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64E8A"/>
                </a:solidFill>
                <a:latin typeface="Microsoft YaHei"/>
                <a:ea typeface="Microsoft YaHei"/>
                <a:cs typeface="Microsoft YaHei"/>
              </a:rPr>
              <a:t>这一段要让组员看懂什么？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7AFE895-554F-42E9-9468-39AAD96D9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8765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BFC29B1-FC86-427B-8160-8DB594932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724150"/>
            <a:ext cx="3771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公开资料只是线索，不等于完整事实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37081A6-83F6-4AFE-92E5-5EB094F19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5814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37117A4-3A3B-4B37-8CA0-27332B611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429000"/>
            <a:ext cx="3771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查重与预览，是为了避免错误沉淀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8550491-72AB-46F5-ABD8-AE9FFF366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2862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553F1E3-219B-4913-8BAD-E89C5EBC4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133850"/>
            <a:ext cx="3771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建档的终点不是“有一条记录”，而是“有下一步动作”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68E29E5-370E-4044-A710-DCA780556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5505450"/>
            <a:ext cx="4762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1FBDC29-A8B9-4E30-8463-64ECA96DB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5657850"/>
            <a:ext cx="430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安全边界：YouTube 隐藏邮箱不可获取。</a:t>
            </a:r>
          </a:p>
        </p:txBody>
      </p:sp>
    </p:spTree>
    <p:extLst>
      <p:ext uri="{BB962C8B-B14F-4D97-AF65-F5344CB8AC3E}">
        <p14:creationId xmlns:p14="http://schemas.microsoft.com/office/powerpoint/2010/main" val="113111329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9020A0-E4DC-410D-A274-E1D5B497E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现场演示 · 沟通与判断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AC56BD-5350-49F7-AAA0-0BB4F6CE0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现场演示②：在 Gmail 里先读懂，再回复</a:t>
            </a:r>
          </a:p>
        </p:txBody>
      </p:sp>
      <p:cxnSp>
        <p:nvCxnSpPr>
          <p:cNvPr id="23" name=""/>
          <p:cNvCxnSpPr/>
          <p:nvPr/>
        </p:nvCxnSpPr>
        <p:spPr>
          <a:xfrm xmlns:a="http://schemas.openxmlformats.org/drawingml/2006/main">
            <a:off x="400050" y="13525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CE3EA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524709-4D2C-4CF4-BEB0-8E6FFD55F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334125"/>
            <a:ext cx="781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5F9D1F-B41A-48C8-BFED-9B96B6D85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95450"/>
            <a:ext cx="7239000" cy="409575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3F6F9"/>
          </a:solidFill>
          <a:ln xmlns:a="http://schemas.openxmlformats.org/drawingml/2006/main" w="9525">
            <a:solidFill>
              <a:srgbClr val="DCE3EA"/>
            </a:solidFill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3bb3e633d34f1e"/>
          <a:srcRect xmlns:a="http://schemas.openxmlformats.org/drawingml/2006/main" l="6127" t="0" r="612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5300" y="1790700"/>
            <a:ext cx="7048500" cy="3905250"/>
          </a:xfrm>
          <a:prstGeom xmlns:a="http://schemas.openxmlformats.org/drawingml/2006/main" prst="roundRect">
            <a:avLst>
              <a:gd name="adj" fmla="val 1951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A74DFB-AADE-4AED-981C-570786183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9050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8EDE24-C91B-46FB-AB8D-02414E0E9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9431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E220B0-3203-42E7-89D7-93A7AB149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8859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选择回复依据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B103A4-E3FE-4631-B61A-D4722E179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2479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明确基于哪封真实邮件回复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4E7326-B035-4C9F-BBD3-811754C43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861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D06AAF-93D3-4CEE-95CA-3001B4EA7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1242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0BDB81-E274-491B-A865-C681C7878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0670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读取相关历史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39ABB5-F6C3-43CD-A404-D5D177C24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4290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减少重复翻找和遗漏条件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E34F60-315B-435F-BCAE-DEF521674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2672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721F3D-3955-42DF-87A0-20238E294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3053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ABE8ED-99EF-4F76-979E-57C7AD675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2481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确认收件人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5CB59D-D901-49DF-A37F-BAF71EA8A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6101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未确认时不能保存草稿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861940-684B-4A13-A846-65C0FA157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5505450"/>
            <a:ext cx="36385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053B9C-BB36-4F3B-9533-8B706759C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657850"/>
            <a:ext cx="3314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64E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64E8A"/>
                </a:solidFill>
                <a:latin typeface="Microsoft YaHei"/>
                <a:ea typeface="Microsoft YaHei"/>
                <a:cs typeface="Microsoft YaHei"/>
              </a:rPr>
              <a:t>AI 节省的是“恢复上下文”的成本。</a:t>
            </a:r>
          </a:p>
        </p:txBody>
      </p:sp>
    </p:spTree>
    <p:extLst>
      <p:ext uri="{BB962C8B-B14F-4D97-AF65-F5344CB8AC3E}">
        <p14:creationId xmlns:p14="http://schemas.microsoft.com/office/powerpoint/2010/main" val="82966749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708CD3-E98D-40E9-B55A-2ED9338C1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AI 的职责分层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6F6294-E639-4B32-9051-DDA2F2B80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两个提示词，分别解决“怎么看”和“怎么说”</a:t>
            </a:r>
          </a:p>
        </p:txBody>
      </p:sp>
      <p:cxnSp>
        <p:nvCxnSpPr>
          <p:cNvPr id="21" name=""/>
          <p:cNvCxnSpPr/>
          <p:nvPr/>
        </p:nvCxnSpPr>
        <p:spPr>
          <a:xfrm xmlns:a="http://schemas.openxmlformats.org/drawingml/2006/main">
            <a:off x="400050" y="13525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CE3EA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960118-507B-429F-B637-C3FB7C0B9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334125"/>
            <a:ext cx="781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57F196-71B0-4EC4-B7A4-3BF8194E2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0"/>
            <a:ext cx="5429250" cy="3733800"/>
          </a:xfrm>
          <a:prstGeom xmlns:a="http://schemas.openxmlformats.org/drawingml/2006/main" prst="roundRect">
            <a:avLst>
              <a:gd name="adj" fmla="val 25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8BF832-5D2F-4585-B64A-4D3674767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714500"/>
            <a:ext cx="5429250" cy="3733800"/>
          </a:xfrm>
          <a:prstGeom xmlns:a="http://schemas.openxmlformats.org/drawingml/2006/main" prst="roundRect">
            <a:avLst>
              <a:gd name="adj" fmla="val 25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5E0755-F611-4164-8B94-EBF92A54E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85950"/>
            <a:ext cx="8191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0A9792-391F-4CF8-99C2-62CB06558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05000"/>
            <a:ext cx="819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64E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64E8A"/>
                </a:solidFill>
                <a:latin typeface="Microsoft YaHei"/>
                <a:ea typeface="Microsoft YaHei"/>
                <a:cs typeface="Microsoft YaHei"/>
              </a:rPr>
              <a:t>怎么看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7E7820-1779-4DA0-B6D9-CEC108531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885950"/>
            <a:ext cx="8191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5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233E59-2307-4C87-B8BD-993E9BACF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905000"/>
            <a:ext cx="819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怎么说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552E5B-9B56-443D-A7B8-4F4B008DA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66950"/>
            <a:ext cx="466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AI 系统功能提示词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3ECF33-9D71-44C5-B56D-9337BFEB1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28900"/>
            <a:ext cx="466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分析、翻译、合作建议等通用能力</a:t>
            </a:r>
          </a:p>
        </p:txBody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d79604037f40e2"/>
          <a:srcRect xmlns:a="http://schemas.openxmlformats.org/drawingml/2006/main" l="0" t="5050" r="0" b="505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8650" y="3048000"/>
            <a:ext cx="4972050" cy="2133600"/>
          </a:xfrm>
          <a:prstGeom xmlns:a="http://schemas.openxmlformats.org/drawingml/2006/main" prst="roundRect">
            <a:avLst>
              <a:gd name="adj" fmla="val 2679"/>
            </a:avLst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C0C2CE-EBCB-43B2-A3FB-6ED610B1A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266950"/>
            <a:ext cx="466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AI 起草邮件提示词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8E8A36-0C6E-426C-A3B9-C986A0FBA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6289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根据邮件事实控制表达方式与商务语气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0489fc3472402d"/>
          <a:srcRect xmlns:a="http://schemas.openxmlformats.org/drawingml/2006/main" l="0" t="5099" r="0" b="509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10300" y="3048000"/>
            <a:ext cx="4972050" cy="2133600"/>
          </a:xfrm>
          <a:prstGeom xmlns:a="http://schemas.openxmlformats.org/drawingml/2006/main" prst="roundRect">
            <a:avLst>
              <a:gd name="adj" fmla="val 2679"/>
            </a:avLst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37E8F8-7238-4255-8ADC-AE6FAEB64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5715000"/>
            <a:ext cx="7696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3F6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AA2DEA-70CD-4FD5-8F17-56C1A3E7B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5829300"/>
            <a:ext cx="7296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分开设置的意义：判断逻辑保持统一，邮件表达可以独立调整。</a:t>
            </a:r>
          </a:p>
        </p:txBody>
      </p:sp>
    </p:spTree>
    <p:extLst>
      <p:ext uri="{BB962C8B-B14F-4D97-AF65-F5344CB8AC3E}">
        <p14:creationId xmlns:p14="http://schemas.microsoft.com/office/powerpoint/2010/main" val="206962766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BBE8A2B-F96D-4C0C-ACEC-DCDF3BACD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现场演示 · AI 双语起草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529C7D-06B1-4BA8-ADAC-16FB38C21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中文是人工控制面，外文是最终交付面</a:t>
            </a:r>
          </a:p>
        </p:txBody>
      </p:sp>
      <p:cxnSp>
        <p:nvCxnSpPr>
          <p:cNvPr id="41" name=""/>
          <p:cNvCxnSpPr/>
          <p:nvPr/>
        </p:nvCxnSpPr>
        <p:spPr>
          <a:xfrm xmlns:a="http://schemas.openxmlformats.org/drawingml/2006/main">
            <a:off x="400050" y="13525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CE3EA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EDD2DF-0B45-4AE5-A613-B97763AF7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334125"/>
            <a:ext cx="781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cxnSp>
        <p:nvCxnSpPr>
          <p:cNvPr id="43" name=""/>
          <p:cNvCxnSpPr/>
          <p:nvPr/>
        </p:nvCxnSpPr>
        <p:spPr>
          <a:xfrm xmlns:a="http://schemas.openxmlformats.org/drawingml/2006/main">
            <a:off x="1257300" y="3124200"/>
            <a:ext cx="7810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CE3EA"/>
            </a:solidFill>
            <a:prstDash val="solid"/>
          </a:ln>
        </p:spPr>
      </p:cxnSp>
      <p:cxnSp>
        <p:nvCxnSpPr>
          <p:cNvPr id="44" name=""/>
          <p:cNvCxnSpPr/>
          <p:nvPr/>
        </p:nvCxnSpPr>
        <p:spPr>
          <a:xfrm xmlns:a="http://schemas.openxmlformats.org/drawingml/2006/main">
            <a:off x="6000750" y="3124200"/>
            <a:ext cx="0" cy="15240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CE3EA"/>
            </a:solidFill>
            <a:prstDash val="solid"/>
          </a:ln>
        </p:spPr>
      </p:cxnSp>
      <p:cxnSp>
        <p:nvCxnSpPr>
          <p:cNvPr id="45" name=""/>
          <p:cNvCxnSpPr/>
          <p:nvPr/>
        </p:nvCxnSpPr>
        <p:spPr>
          <a:xfrm xmlns:a="http://schemas.openxmlformats.org/drawingml/2006/main">
            <a:off x="6000750" y="4648200"/>
            <a:ext cx="30670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CE3EA"/>
            </a:solidFill>
            <a:prstDash val="solid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640E4E-E840-4089-9A89-953B10A09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0"/>
            <a:ext cx="1714500" cy="110490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9FE67D-33AC-463C-AC3D-276ABBEFC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43200"/>
            <a:ext cx="140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AI 生成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A0E85C-5D7D-4D88-AE02-AA3DCFAAB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24200"/>
            <a:ext cx="1409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外文正文</a:t>
            </a:r>
          </a:p>
          <a:p xmlns:a="http://schemas.openxmlformats.org/drawingml/2006/main">
            <a:pPr algn="ctr">
              <a:def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+ 中文对照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169080-5D42-4BDA-9291-DD0B67B50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571750"/>
            <a:ext cx="1714500" cy="110490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9A700F-B40C-4AE3-A1B2-3FD84FA76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743200"/>
            <a:ext cx="140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人工检查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4446A1-8FE4-4F58-8A62-B11199988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124200"/>
            <a:ext cx="1409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只看中文</a:t>
            </a:r>
          </a:p>
          <a:p xmlns:a="http://schemas.openxmlformats.org/drawingml/2006/main">
            <a:pPr algn="ctr">
              <a:def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确认商务事实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8545A9-3AB7-4CB3-8881-B2A810FCC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571750"/>
            <a:ext cx="1714500" cy="110490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EEF5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97C3E5-FD23-45A7-AF4A-EB24C7773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743200"/>
            <a:ext cx="140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没有修改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534AB6-BE9F-4761-A90E-A65C94A08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124200"/>
            <a:ext cx="1409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直接允许</a:t>
            </a:r>
          </a:p>
          <a:p xmlns:a="http://schemas.openxmlformats.org/drawingml/2006/main">
            <a:pPr algn="ctr">
              <a:def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保存草稿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AAE183-A5F2-4F73-888F-210AFA973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571750"/>
            <a:ext cx="2095500" cy="110490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164E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5DC9CB-4DDC-44FA-898C-BE9D822EA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743200"/>
            <a:ext cx="1790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保存 Gmail 草稿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53E932-48F8-4D0B-940D-EDC3555F1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124200"/>
            <a:ext cx="1790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仍不自动发送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428865-0978-4DBD-8FC8-55D134EAD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095750"/>
            <a:ext cx="1714500" cy="110490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2B6383-5E58-48BC-8A58-965244D03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267200"/>
            <a:ext cx="140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修改中文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9C815C-D78F-4ADE-8B6D-76D48CA73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648200"/>
            <a:ext cx="1409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立即禁用</a:t>
            </a:r>
          </a:p>
          <a:p xmlns:a="http://schemas.openxmlformats.org/drawingml/2006/main">
            <a:pPr algn="ctr">
              <a:def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保存草稿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C6BE684-00EA-423F-9BA5-860DD3A16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095750"/>
            <a:ext cx="2095500" cy="110490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D9579D9-70F7-4EE8-B5C6-D09281D8E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267200"/>
            <a:ext cx="1790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64E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4E8A"/>
                </a:solidFill>
                <a:latin typeface="Microsoft YaHei"/>
                <a:ea typeface="Microsoft YaHei"/>
                <a:cs typeface="Microsoft YaHei"/>
              </a:rPr>
              <a:t>根据中文更新外文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AF43416-6C1D-4540-9CD2-476A003EC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648200"/>
            <a:ext cx="1790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忠实翻译后恢复保存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A43C62D-9F72-442E-9984-BB685EB53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266950"/>
            <a:ext cx="2286000" cy="31623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3F6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80F1B47-87C9-4140-8ABF-06687A290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514600"/>
            <a:ext cx="1828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保留的人工权利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0A8C6B4-AE7F-4A2A-B946-EA77A68B1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1051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F4B116D-7A1B-44DE-972D-45BD07F3D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99085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可直接修改中文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64A3F67-ABA1-4582-9921-D985250A8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5433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AE6544D-0256-4755-B3B4-BA3241204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4290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可手动润色外文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D81544B-91ED-4EF4-8157-C60B79AF0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9814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27AAE60-ACFE-462D-A44A-F9DD1DDFF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86715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覆盖前必须确认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FE884CE-8840-40BC-A1AF-97DBC5802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4196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918BF61-1767-4470-B274-CF541E935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3053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收件人必须确认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FFADF33-2561-47F9-BDD6-39C7B2138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8577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D18572F-5697-4517-8398-07935C4F5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74345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只保存草稿，不发送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5E033F1-378D-472B-9A73-3DB6EF1E5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2930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4E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64E8A"/>
                </a:solidFill>
                <a:latin typeface="Microsoft YaHei"/>
                <a:ea typeface="Microsoft YaHei"/>
                <a:cs typeface="Microsoft YaHei"/>
              </a:rPr>
              <a:t>核心原则：AI 可以帮助表达，但不能替用户决定商务事实。</a:t>
            </a:r>
          </a:p>
        </p:txBody>
      </p:sp>
    </p:spTree>
    <p:extLst>
      <p:ext uri="{BB962C8B-B14F-4D97-AF65-F5344CB8AC3E}">
        <p14:creationId xmlns:p14="http://schemas.microsoft.com/office/powerpoint/2010/main" val="1028930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D647B9F-00B8-4AAF-9D38-E40C7CD13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红人推广工作流看板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87AF6D-76EF-4299-A528-6FCAAE1E8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三个页面，回答运营每天最重要的三个问题</a:t>
            </a:r>
          </a:p>
        </p:txBody>
      </p:sp>
      <p:cxnSp>
        <p:nvCxnSpPr>
          <p:cNvPr id="32" name=""/>
          <p:cNvCxnSpPr/>
          <p:nvPr/>
        </p:nvCxnSpPr>
        <p:spPr>
          <a:xfrm xmlns:a="http://schemas.openxmlformats.org/drawingml/2006/main">
            <a:off x="400050" y="13525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CE3EA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0570D7-41D1-43C2-A30F-579F50827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334125"/>
            <a:ext cx="781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A82433-6413-4AE2-90EA-1D4306AFE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47850"/>
            <a:ext cx="3505200" cy="3124200"/>
          </a:xfrm>
          <a:prstGeom xmlns:a="http://schemas.openxmlformats.org/drawingml/2006/main" prst="roundRect">
            <a:avLst>
              <a:gd name="adj" fmla="val 30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75E394-3F0F-45AE-9410-CA5C690C2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47850"/>
            <a:ext cx="35052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265EFA-7E51-4897-A704-0538B50CA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669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今天做什么？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430525-2AA8-4DEC-A063-ADA314264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8130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每日待办</a:t>
            </a:r>
          </a:p>
        </p:txBody>
      </p:sp>
      <p:cxnSp>
        <p:nvCxnSpPr>
          <p:cNvPr id="38" name=""/>
          <p:cNvCxnSpPr/>
          <p:nvPr/>
        </p:nvCxnSpPr>
        <p:spPr>
          <a:xfrm xmlns:a="http://schemas.openxmlformats.org/drawingml/2006/main">
            <a:off x="628650" y="3371850"/>
            <a:ext cx="3048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CE3EA"/>
            </a:solidFill>
            <a:prstDash val="soli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BF106E-D68A-4720-AC4A-D05E67318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76650"/>
            <a:ext cx="29908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未回复来信、手动任务、完成与恢复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DE26DA-33CC-4C7E-8615-DBE37908D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847850"/>
            <a:ext cx="3505200" cy="3124200"/>
          </a:xfrm>
          <a:prstGeom xmlns:a="http://schemas.openxmlformats.org/drawingml/2006/main" prst="roundRect">
            <a:avLst>
              <a:gd name="adj" fmla="val 30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1E16F7-78B5-43E8-8C18-752DDD498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847850"/>
            <a:ext cx="35052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2BA638-3424-4303-8F38-D0E8079B6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2669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6DCB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6DCBF4"/>
                </a:solidFill>
                <a:latin typeface="Microsoft YaHei"/>
                <a:ea typeface="Microsoft YaHei"/>
                <a:cs typeface="Microsoft YaHei"/>
              </a:rPr>
              <a:t>什么时候发生？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E5DF19-B43B-4D48-9790-074410978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78130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工作日历</a:t>
            </a:r>
          </a:p>
        </p:txBody>
      </p:sp>
      <p:cxnSp>
        <p:nvCxnSpPr>
          <p:cNvPr id="44" name=""/>
          <p:cNvCxnSpPr/>
          <p:nvPr/>
        </p:nvCxnSpPr>
        <p:spPr>
          <a:xfrm xmlns:a="http://schemas.openxmlformats.org/drawingml/2006/main">
            <a:off x="4419600" y="3371850"/>
            <a:ext cx="3048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CE3EA"/>
            </a:solidFill>
            <a:prstDash val="soli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57808D-CFC1-4BFF-9D0A-E1DAEDA55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676650"/>
            <a:ext cx="29908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确认、发货、到货、拍摄、预计与实际上线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2B9564-17D3-4B96-A406-80DC20852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847850"/>
            <a:ext cx="3505200" cy="3124200"/>
          </a:xfrm>
          <a:prstGeom xmlns:a="http://schemas.openxmlformats.org/drawingml/2006/main" prst="roundRect">
            <a:avLst>
              <a:gd name="adj" fmla="val 30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72177C-8347-45BD-8870-D1336919E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847850"/>
            <a:ext cx="35052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4E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D00138-7F45-4A70-8C67-8E14A6CF8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2669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4E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64E8A"/>
                </a:solidFill>
                <a:latin typeface="Microsoft YaHei"/>
                <a:ea typeface="Microsoft YaHei"/>
                <a:cs typeface="Microsoft YaHei"/>
              </a:rPr>
              <a:t>现在进展到哪？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964892-59BD-43CF-A9CE-120C8F485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78130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合作项目</a:t>
            </a:r>
          </a:p>
        </p:txBody>
      </p:sp>
      <p:cxnSp>
        <p:nvCxnSpPr>
          <p:cNvPr id="50" name=""/>
          <p:cNvCxnSpPr/>
          <p:nvPr/>
        </p:nvCxnSpPr>
        <p:spPr>
          <a:xfrm xmlns:a="http://schemas.openxmlformats.org/drawingml/2006/main">
            <a:off x="8210550" y="3371850"/>
            <a:ext cx="3048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CE3EA"/>
            </a:solidFill>
            <a:prstDash val="solid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BB809F1-AC57-404F-8F74-F19D0A778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676650"/>
            <a:ext cx="29908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阶段、风险、日期、告知状态与证据</a:t>
            </a:r>
          </a:p>
        </p:txBody>
      </p:sp>
      <p:cxnSp>
        <p:nvCxnSpPr>
          <p:cNvPr id="52" name=""/>
          <p:cNvCxnSpPr/>
          <p:nvPr/>
        </p:nvCxnSpPr>
        <p:spPr>
          <a:xfrm xmlns:a="http://schemas.openxmlformats.org/drawingml/2006/main">
            <a:off x="1790700" y="5334000"/>
            <a:ext cx="8267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E3EA"/>
            </a:solidFill>
            <a:prstDash val="solid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8EA0F8B-97DB-4473-B53C-89B6C75BC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2482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1FD49FC-7A3C-4544-ABD7-F1687E68B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52482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9525">
            <a:solidFill>
              <a:srgbClr val="6DCBF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19B54BF-9A64-4A8C-A6EF-63A5B8FCF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52482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4E8A"/>
          </a:solidFill>
          <a:ln xmlns:a="http://schemas.openxmlformats.org/drawingml/2006/main" w="9525">
            <a:solidFill>
              <a:srgbClr val="164E8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238A0CB-17CE-4496-9654-3858C0F8E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388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来信形成待办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9D3A738-54B9-4C2A-A725-7602C2BA4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6388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关键日期进入日历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7E31E71-7795-4D7B-A54F-20FF4D0AE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56388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结果回到项目记录</a:t>
            </a:r>
          </a:p>
        </p:txBody>
      </p:sp>
    </p:spTree>
    <p:extLst>
      <p:ext uri="{BB962C8B-B14F-4D97-AF65-F5344CB8AC3E}">
        <p14:creationId xmlns:p14="http://schemas.microsoft.com/office/powerpoint/2010/main" val="111647550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2E8BF73-51B9-4B92-8826-642A759CB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红人推广工作流看板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458271-CA86-4664-9AEA-B8E693CEE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确认合作不是终点，而是履约的起点</a:t>
            </a:r>
          </a:p>
        </p:txBody>
      </p:sp>
      <p:cxnSp>
        <p:nvCxnSpPr>
          <p:cNvPr id="33" name=""/>
          <p:cNvCxnSpPr/>
          <p:nvPr/>
        </p:nvCxnSpPr>
        <p:spPr>
          <a:xfrm xmlns:a="http://schemas.openxmlformats.org/drawingml/2006/main">
            <a:off x="400050" y="13525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CE3EA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EF5FC1-2DEF-4E45-AE68-2FCA297F4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334125"/>
            <a:ext cx="781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cxnSp>
        <p:nvCxnSpPr>
          <p:cNvPr id="35" name=""/>
          <p:cNvCxnSpPr/>
          <p:nvPr/>
        </p:nvCxnSpPr>
        <p:spPr>
          <a:xfrm xmlns:a="http://schemas.openxmlformats.org/drawingml/2006/main">
            <a:off x="895350" y="2857500"/>
            <a:ext cx="102108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CE3EA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06B074-CF2B-4DC2-BFA6-C89B71F68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051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7E7AE0-8ADF-4B6A-808A-F18F2E41E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90750"/>
            <a:ext cx="1104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确认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462B9B-745F-4ACD-A7BD-E79604364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19450"/>
            <a:ext cx="1104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条件达成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0E18FA-6FD0-4AD4-8647-56027C58D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7051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F320E6-491D-41B3-9F74-803BFA7B0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190750"/>
            <a:ext cx="1104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发货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278141-6D76-4264-8CD7-02009BF7A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219450"/>
            <a:ext cx="1104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物流单号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B73673-C8D9-47B4-811A-1995057DB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7051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D82F47-0A86-4037-9383-F6C5A3FEB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190750"/>
            <a:ext cx="1104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到货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FD3E62-B195-4977-9025-BC0330567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219450"/>
            <a:ext cx="1104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签收日期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9B7F5C-CB2C-479B-A365-D58C122E5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7051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4E8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515432-6487-4B2B-B86E-B17883F01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90750"/>
            <a:ext cx="1104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拍摄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0CAF71-7829-43CC-B356-1C6AB9932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219450"/>
            <a:ext cx="1104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内容进度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567CEE-CEBB-4A26-984D-E0D812A33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7051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4E8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3F14CE-9F1C-4084-9910-61693690F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190750"/>
            <a:ext cx="1104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预计上线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14D11DB-7C82-4AD3-85A8-AB01A604E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219450"/>
            <a:ext cx="1104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时间承诺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E61341-D22E-47FB-B334-56DC24200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7051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4E8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A637B3F-93B6-4307-8228-03BF41FF5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190750"/>
            <a:ext cx="1104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实际上线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6DAD99D-4CF2-4A34-9C56-1599F424F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219450"/>
            <a:ext cx="1104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视频证据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C71B86C-38C7-4422-9D8E-ABC04BDD8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71950"/>
            <a:ext cx="5295900" cy="1562100"/>
          </a:xfrm>
          <a:prstGeom xmlns:a="http://schemas.openxmlformats.org/drawingml/2006/main" prst="roundRect">
            <a:avLst>
              <a:gd name="adj" fmla="val 6098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230A87F-BE04-4425-89D8-707F55640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0055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4E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64E8A"/>
                </a:solidFill>
                <a:latin typeface="Microsoft YaHei"/>
                <a:ea typeface="Microsoft YaHei"/>
                <a:cs typeface="Microsoft YaHei"/>
              </a:rPr>
              <a:t>系统应该主动提醒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7E369A6-D445-4222-82F0-9736B5100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14900"/>
            <a:ext cx="466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日期临近、阶段停留、预计上线逾期、信息缺失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BDA39C1-B89E-42D0-B4FF-6987AA7D6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171950"/>
            <a:ext cx="5676900" cy="1562100"/>
          </a:xfrm>
          <a:prstGeom xmlns:a="http://schemas.openxmlformats.org/drawingml/2006/main" prst="roundRect">
            <a:avLst>
              <a:gd name="adj" fmla="val 6098"/>
            </a:avLst>
          </a:prstGeom>
          <a:solidFill xmlns:a="http://schemas.openxmlformats.org/drawingml/2006/main">
            <a:srgbClr val="F3F6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ED332E0-AADB-4D6C-93E4-482946A0A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400550"/>
            <a:ext cx="514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系统不应该自动决定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DF0E276-49CB-4743-B6C8-F309D1D2E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914900"/>
            <a:ext cx="514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合作状态变化、飞书字段写回、Gmail 发送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ECEDE52-48BD-40E3-8B49-A81428D35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81700"/>
            <a:ext cx="762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提醒是自动化，决定仍然属于人。</a:t>
            </a:r>
          </a:p>
        </p:txBody>
      </p:sp>
    </p:spTree>
    <p:extLst>
      <p:ext uri="{BB962C8B-B14F-4D97-AF65-F5344CB8AC3E}">
        <p14:creationId xmlns:p14="http://schemas.microsoft.com/office/powerpoint/2010/main" val="151574839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59125B2-EAEB-43DE-B77D-5138C15B3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团队共识与下一步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C39444-F906-40C0-B75B-A27F4FAFC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先统一工作方式，再逐步扩大自动化</a:t>
            </a:r>
          </a:p>
        </p:txBody>
      </p:sp>
      <p:cxnSp>
        <p:nvCxnSpPr>
          <p:cNvPr id="35" name=""/>
          <p:cNvCxnSpPr/>
          <p:nvPr/>
        </p:nvCxnSpPr>
        <p:spPr>
          <a:xfrm xmlns:a="http://schemas.openxmlformats.org/drawingml/2006/main">
            <a:off x="400050" y="13525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CE3EA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F901A6-88EB-4CB2-8558-88AEE3211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334125"/>
            <a:ext cx="781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544BA5-13BF-47D8-B98F-5B50BED70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76400"/>
            <a:ext cx="628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建议我们先形成四条共同规则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901107-0158-407C-9DAE-8A9BF9B37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669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7545A2-2C93-46DA-8905-88822EFD6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288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状态及时更新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1E5D67-F675-4166-A7D5-239FEB2EC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26695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关键节点当天记录，不靠记忆补账</a:t>
            </a:r>
          </a:p>
        </p:txBody>
      </p:sp>
      <p:cxnSp>
        <p:nvCxnSpPr>
          <p:cNvPr id="41" name=""/>
          <p:cNvCxnSpPr/>
          <p:nvPr/>
        </p:nvCxnSpPr>
        <p:spPr>
          <a:xfrm xmlns:a="http://schemas.openxmlformats.org/drawingml/2006/main">
            <a:off x="400050" y="2724150"/>
            <a:ext cx="68008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CE3EA"/>
            </a:solidFill>
            <a:prstDash val="soli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9396A8-80BC-451A-8201-2B301CD20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099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DE60F5-3E71-4020-BBE3-62AFC4B23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718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证据留在链路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ACE295-8F38-4267-9041-AFE363F9C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00990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邮件、日期、物流和视频链接可追溯</a:t>
            </a:r>
          </a:p>
        </p:txBody>
      </p:sp>
      <p:cxnSp>
        <p:nvCxnSpPr>
          <p:cNvPr id="45" name=""/>
          <p:cNvCxnSpPr/>
          <p:nvPr/>
        </p:nvCxnSpPr>
        <p:spPr>
          <a:xfrm xmlns:a="http://schemas.openxmlformats.org/drawingml/2006/main">
            <a:off x="400050" y="3467100"/>
            <a:ext cx="68008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CE3EA"/>
            </a:solidFill>
            <a:prstDash val="soli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4DA983-BEAD-4643-86F8-E61B4D5C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528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563FC8-F414-448F-B1D9-954B8E98B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147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中文负责确认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AA7694-710F-4124-A25F-0C9F5F652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75285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关键商务事实先在人能看懂的界面确认</a:t>
            </a:r>
          </a:p>
        </p:txBody>
      </p:sp>
      <p:cxnSp>
        <p:nvCxnSpPr>
          <p:cNvPr id="49" name=""/>
          <p:cNvCxnSpPr/>
          <p:nvPr/>
        </p:nvCxnSpPr>
        <p:spPr>
          <a:xfrm xmlns:a="http://schemas.openxmlformats.org/drawingml/2006/main">
            <a:off x="400050" y="4210050"/>
            <a:ext cx="68008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CE3EA"/>
            </a:solidFill>
            <a:prstDash val="soli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F94C9A-F250-44E5-9A99-EC2AF5262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958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C12CD3-74A5-44EF-BE91-7624FC19A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577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外部写入人工触发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D37B8D-5111-4E76-B1F6-781C9134A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49580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草稿、飞书写回和发送保持清晰边界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9212F5E-47A0-4ED6-8D2A-E79CDA683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676400"/>
            <a:ext cx="390525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8A35670-36B6-4B57-94D1-43B4E6A29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98120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64E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64E8A"/>
                </a:solidFill>
                <a:latin typeface="Microsoft YaHei"/>
                <a:ea typeface="Microsoft YaHei"/>
                <a:cs typeface="Microsoft YaHei"/>
              </a:rPr>
              <a:t>分享会最后讨论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EA079CA-2A9B-4A9B-A575-F13FB9D65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479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6CC80B7-DB22-4A14-81CD-9E2F0A386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1460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哪一步仍然最容易断？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3A69598-145B-44C2-BCD0-9FE01D224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2004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FEDFAD4-AD67-4727-8D70-DCC8E0DBF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6705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哪些字段是大家真正会用的？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60AF1B7-F23C-41CC-A1B4-994E2E65F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7528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E124C34-8E17-4E61-9AFD-70769073D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61950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哪些提醒值得自动出现？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BDCA51C-EE74-4ADE-973B-76D9DAFDE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305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6D17020-A0DE-4DD9-B0D4-32B10AA53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17195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哪些动作必须继续人工确认？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D5D3F9E-A314-48BF-84A3-A548D56EA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38800"/>
            <a:ext cx="112014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64E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10B4F2C-0CA3-415D-98CD-9508584CE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912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把执行工作留给系统，把时间留给判断、关系与统筹。</a:t>
            </a:r>
          </a:p>
        </p:txBody>
      </p:sp>
    </p:spTree>
    <p:extLst>
      <p:ext uri="{BB962C8B-B14F-4D97-AF65-F5344CB8AC3E}">
        <p14:creationId xmlns:p14="http://schemas.microsoft.com/office/powerpoint/2010/main" val="208238279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2026-08-13T07:50:57.2110000Z</dcterms:created>
  <dcterms:modified xsi:type="dcterms:W3CDTF">2026-08-13T07:50:57.2110000Z</dcterms:modified>
</coreProperties>
</file>